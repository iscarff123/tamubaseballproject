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4" r:id="rId9"/>
    <p:sldId id="262" r:id="rId10"/>
    <p:sldId id="270" r:id="rId11"/>
    <p:sldId id="265" r:id="rId12"/>
    <p:sldId id="271" r:id="rId13"/>
    <p:sldId id="266" r:id="rId14"/>
    <p:sldId id="272" r:id="rId15"/>
    <p:sldId id="267" r:id="rId16"/>
    <p:sldId id="273" r:id="rId17"/>
    <p:sldId id="268" r:id="rId18"/>
    <p:sldId id="274" r:id="rId19"/>
    <p:sldId id="269" r:id="rId20"/>
    <p:sldId id="277" r:id="rId21"/>
    <p:sldId id="275" r:id="rId22"/>
    <p:sldId id="278" r:id="rId23"/>
    <p:sldId id="276" r:id="rId24"/>
    <p:sldId id="281" r:id="rId25"/>
    <p:sldId id="279" r:id="rId26"/>
    <p:sldId id="28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3" autoAdjust="0"/>
    <p:restoredTop sz="94660"/>
  </p:normalViewPr>
  <p:slideViewPr>
    <p:cSldViewPr snapToGrid="0">
      <p:cViewPr varScale="1">
        <p:scale>
          <a:sx n="70" d="100"/>
          <a:sy n="70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4D10-6BCF-4469-AEB9-2B9F5FE0C58E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085-26B1-4DA9-87A4-08BFC2981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68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4D10-6BCF-4469-AEB9-2B9F5FE0C58E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085-26B1-4DA9-87A4-08BFC2981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11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4D10-6BCF-4469-AEB9-2B9F5FE0C58E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085-26B1-4DA9-87A4-08BFC2981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133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4D10-6BCF-4469-AEB9-2B9F5FE0C58E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085-26B1-4DA9-87A4-08BFC2981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12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4D10-6BCF-4469-AEB9-2B9F5FE0C58E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085-26B1-4DA9-87A4-08BFC2981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4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4D10-6BCF-4469-AEB9-2B9F5FE0C58E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085-26B1-4DA9-87A4-08BFC2981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860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4D10-6BCF-4469-AEB9-2B9F5FE0C58E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085-26B1-4DA9-87A4-08BFC2981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720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4D10-6BCF-4469-AEB9-2B9F5FE0C58E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085-26B1-4DA9-87A4-08BFC2981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058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4D10-6BCF-4469-AEB9-2B9F5FE0C58E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085-26B1-4DA9-87A4-08BFC2981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745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4D10-6BCF-4469-AEB9-2B9F5FE0C58E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085-26B1-4DA9-87A4-08BFC2981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383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4D10-6BCF-4469-AEB9-2B9F5FE0C58E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085-26B1-4DA9-87A4-08BFC2981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991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4D10-6BCF-4469-AEB9-2B9F5FE0C58E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085-26B1-4DA9-87A4-08BFC298117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2666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4D10-6BCF-4469-AEB9-2B9F5FE0C58E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085-26B1-4DA9-87A4-08BFC2981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4614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4D10-6BCF-4469-AEB9-2B9F5FE0C58E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085-26B1-4DA9-87A4-08BFC2981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0798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4D10-6BCF-4469-AEB9-2B9F5FE0C58E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085-26B1-4DA9-87A4-08BFC2981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803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4D10-6BCF-4469-AEB9-2B9F5FE0C58E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085-26B1-4DA9-87A4-08BFC2981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1257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F4D10-6BCF-4469-AEB9-2B9F5FE0C58E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73085-26B1-4DA9-87A4-08BFC2981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33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83F4D10-6BCF-4469-AEB9-2B9F5FE0C58E}" type="datetimeFigureOut">
              <a:rPr lang="en-US" smtClean="0"/>
              <a:t>12/2/2018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0E73085-26B1-4DA9-87A4-08BFC2981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989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tmp"/><Relationship Id="rId4" Type="http://schemas.openxmlformats.org/officeDocument/2006/relationships/image" Target="../media/image8.tm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Baseball Project</a:t>
            </a:r>
            <a:br>
              <a:rPr lang="en-US" dirty="0" smtClean="0"/>
            </a:br>
            <a:r>
              <a:rPr lang="en-US" sz="4400" dirty="0" smtClean="0"/>
              <a:t>Pitcher Model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Ian Scarff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518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 smtClean="0"/>
              <a:t>To develop a model to predict what type of pitch a pitcher might throw next.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This would give insight to batters allowing them to adjust their stance and swing.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To build model, the goal was to replicate game conditions.</a:t>
            </a:r>
          </a:p>
        </p:txBody>
      </p:sp>
    </p:spTree>
    <p:extLst>
      <p:ext uri="{BB962C8B-B14F-4D97-AF65-F5344CB8AC3E}">
        <p14:creationId xmlns:p14="http://schemas.microsoft.com/office/powerpoint/2010/main" val="3534805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70450"/>
          </a:xfrm>
        </p:spPr>
        <p:txBody>
          <a:bodyPr/>
          <a:lstStyle/>
          <a:p>
            <a:r>
              <a:rPr lang="en-US" dirty="0" smtClean="0"/>
              <a:t>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" y="722376"/>
            <a:ext cx="10673197" cy="613562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Response:</a:t>
            </a:r>
          </a:p>
          <a:p>
            <a:pPr lvl="1"/>
            <a:r>
              <a:rPr lang="en-US" dirty="0" smtClean="0"/>
              <a:t>Pitch Types</a:t>
            </a:r>
          </a:p>
          <a:p>
            <a:pPr lvl="2"/>
            <a:r>
              <a:rPr lang="en-US" dirty="0" smtClean="0"/>
              <a:t>Fastball, Curveball, </a:t>
            </a:r>
            <a:r>
              <a:rPr lang="en-US" dirty="0" err="1" smtClean="0"/>
              <a:t>ChangeUp</a:t>
            </a:r>
            <a:r>
              <a:rPr lang="en-US" dirty="0" smtClean="0"/>
              <a:t>, Cutter, Sinker, Slider, and Splitter.</a:t>
            </a:r>
          </a:p>
          <a:p>
            <a:pPr>
              <a:spcAft>
                <a:spcPts val="0"/>
              </a:spcAft>
            </a:pPr>
            <a:r>
              <a:rPr lang="en-US" dirty="0" smtClean="0"/>
              <a:t>Predictors:</a:t>
            </a:r>
          </a:p>
          <a:p>
            <a:pPr lvl="1">
              <a:spcAft>
                <a:spcPts val="0"/>
              </a:spcAft>
            </a:pPr>
            <a:r>
              <a:rPr lang="en-US" dirty="0" smtClean="0"/>
              <a:t>Pitch number of the game.</a:t>
            </a:r>
          </a:p>
          <a:p>
            <a:pPr lvl="1">
              <a:spcAft>
                <a:spcPts val="0"/>
              </a:spcAft>
            </a:pPr>
            <a:r>
              <a:rPr lang="en-US" dirty="0" smtClean="0"/>
              <a:t>Pitch number of the inning.</a:t>
            </a:r>
          </a:p>
          <a:p>
            <a:pPr lvl="1">
              <a:spcAft>
                <a:spcPts val="0"/>
              </a:spcAft>
            </a:pPr>
            <a:r>
              <a:rPr lang="en-US" dirty="0" smtClean="0"/>
              <a:t>Pitch number for the current batter.</a:t>
            </a:r>
          </a:p>
          <a:p>
            <a:pPr lvl="1">
              <a:spcAft>
                <a:spcPts val="0"/>
              </a:spcAft>
            </a:pPr>
            <a:r>
              <a:rPr lang="en-US" dirty="0" smtClean="0"/>
              <a:t>Pitcher’s throwing arm.</a:t>
            </a:r>
          </a:p>
          <a:p>
            <a:pPr lvl="1">
              <a:spcAft>
                <a:spcPts val="0"/>
              </a:spcAft>
            </a:pPr>
            <a:r>
              <a:rPr lang="en-US" dirty="0" smtClean="0"/>
              <a:t>Batter’s batting arm.</a:t>
            </a:r>
          </a:p>
          <a:p>
            <a:pPr lvl="1">
              <a:spcAft>
                <a:spcPts val="0"/>
              </a:spcAft>
            </a:pPr>
            <a:r>
              <a:rPr lang="en-US" dirty="0" smtClean="0"/>
              <a:t>The number of innings.</a:t>
            </a:r>
          </a:p>
          <a:p>
            <a:pPr lvl="1">
              <a:spcAft>
                <a:spcPts val="0"/>
              </a:spcAft>
            </a:pPr>
            <a:r>
              <a:rPr lang="en-US" dirty="0" smtClean="0"/>
              <a:t>The number of outs.</a:t>
            </a:r>
          </a:p>
          <a:p>
            <a:pPr lvl="1">
              <a:spcAft>
                <a:spcPts val="0"/>
              </a:spcAft>
            </a:pPr>
            <a:r>
              <a:rPr lang="en-US" dirty="0" smtClean="0"/>
              <a:t>The number of balls.</a:t>
            </a:r>
          </a:p>
          <a:p>
            <a:pPr lvl="1">
              <a:spcAft>
                <a:spcPts val="0"/>
              </a:spcAft>
            </a:pPr>
            <a:r>
              <a:rPr lang="en-US" dirty="0" smtClean="0"/>
              <a:t>The number of strikes.</a:t>
            </a:r>
          </a:p>
          <a:p>
            <a:pPr lvl="1"/>
            <a:r>
              <a:rPr lang="en-US" dirty="0" smtClean="0"/>
              <a:t>Lag variables for each pitch type.</a:t>
            </a:r>
          </a:p>
          <a:p>
            <a:endParaRPr lang="en-US" dirty="0"/>
          </a:p>
          <a:p>
            <a:r>
              <a:rPr lang="en-US" dirty="0" smtClean="0"/>
              <a:t>Specific batters, pitchers, and teams were not considered.</a:t>
            </a:r>
          </a:p>
          <a:p>
            <a:r>
              <a:rPr lang="en-US" dirty="0" smtClean="0"/>
              <a:t>Teams change over time. Ignoring these features allows for a general model.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8902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0"/>
            <a:ext cx="10353762" cy="970450"/>
          </a:xfrm>
        </p:spPr>
        <p:txBody>
          <a:bodyPr/>
          <a:lstStyle/>
          <a:p>
            <a:r>
              <a:rPr lang="en-US" dirty="0" smtClean="0"/>
              <a:t>Data Preparation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868681"/>
            <a:ext cx="10353762" cy="4922520"/>
          </a:xfrm>
        </p:spPr>
        <p:txBody>
          <a:bodyPr/>
          <a:lstStyle/>
          <a:p>
            <a:r>
              <a:rPr lang="en-US" dirty="0" smtClean="0"/>
              <a:t>Data set given was invalid.</a:t>
            </a:r>
          </a:p>
          <a:p>
            <a:r>
              <a:rPr lang="en-US" dirty="0" smtClean="0"/>
              <a:t>Needed the original data files. (37 games)</a:t>
            </a:r>
          </a:p>
          <a:p>
            <a:r>
              <a:rPr lang="en-US" dirty="0" smtClean="0"/>
              <a:t>Data files needed to be of a certain format.</a:t>
            </a: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2160914"/>
            <a:ext cx="2876730" cy="2145910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739" y="4422070"/>
            <a:ext cx="2508842" cy="2150436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4489704" y="3413759"/>
            <a:ext cx="2907792" cy="1786129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Import .csv to R</a:t>
            </a:r>
            <a:endParaRPr lang="en-US" dirty="0"/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9636" y="2160914"/>
            <a:ext cx="3129049" cy="2128432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240" y="4508121"/>
            <a:ext cx="2938712" cy="20643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0" y="1638106"/>
            <a:ext cx="4041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Column entries are shifted to the left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40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887807"/>
          </a:xfrm>
        </p:spPr>
        <p:txBody>
          <a:bodyPr>
            <a:normAutofit/>
          </a:bodyPr>
          <a:lstStyle/>
          <a:p>
            <a:r>
              <a:rPr lang="en-US" dirty="0" smtClean="0"/>
              <a:t>In future, data files should be of this format.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 blank column fixes importing issues.</a:t>
            </a: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982" y="2271112"/>
            <a:ext cx="4955387" cy="352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340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4601"/>
            <a:ext cx="2724912" cy="970450"/>
          </a:xfrm>
        </p:spPr>
        <p:txBody>
          <a:bodyPr/>
          <a:lstStyle/>
          <a:p>
            <a:r>
              <a:rPr lang="en-US" dirty="0" smtClean="0"/>
              <a:t>Algorith</a:t>
            </a:r>
            <a:r>
              <a:rPr lang="en-US" dirty="0"/>
              <a:t>m</a:t>
            </a:r>
          </a:p>
        </p:txBody>
      </p:sp>
      <p:sp>
        <p:nvSpPr>
          <p:cNvPr id="4" name="Rectangle 3"/>
          <p:cNvSpPr/>
          <p:nvPr/>
        </p:nvSpPr>
        <p:spPr>
          <a:xfrm>
            <a:off x="200865" y="1177714"/>
            <a:ext cx="1563927" cy="12180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Import Training Data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94473" y="4127426"/>
            <a:ext cx="1356182" cy="104698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Build Model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677822" y="1850585"/>
            <a:ext cx="1370652" cy="11377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Import Test Data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784835" y="4165322"/>
            <a:ext cx="1157998" cy="10090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Predict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135308" y="1912319"/>
            <a:ext cx="1180943" cy="10142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Accuracy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62551" y="3589626"/>
            <a:ext cx="1823628" cy="1732182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Set Parameters</a:t>
            </a:r>
            <a:endParaRPr lang="en-US" dirty="0"/>
          </a:p>
        </p:txBody>
      </p:sp>
      <p:sp>
        <p:nvSpPr>
          <p:cNvPr id="12" name="Down Arrow 11"/>
          <p:cNvSpPr/>
          <p:nvPr/>
        </p:nvSpPr>
        <p:spPr>
          <a:xfrm>
            <a:off x="845668" y="2576625"/>
            <a:ext cx="274320" cy="9144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2139998" y="4538013"/>
            <a:ext cx="740362" cy="29751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4521894" y="4576923"/>
            <a:ext cx="649978" cy="29751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>
            <a:off x="8211312" y="3132426"/>
            <a:ext cx="274320" cy="9144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6986024" y="2298084"/>
            <a:ext cx="521200" cy="28837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iamond 17"/>
          <p:cNvSpPr/>
          <p:nvPr/>
        </p:nvSpPr>
        <p:spPr>
          <a:xfrm>
            <a:off x="3008755" y="4026663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19" name="Up Arrow 18"/>
          <p:cNvSpPr/>
          <p:nvPr/>
        </p:nvSpPr>
        <p:spPr>
          <a:xfrm>
            <a:off x="5861304" y="3246120"/>
            <a:ext cx="356616" cy="780543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iamond 19"/>
          <p:cNvSpPr/>
          <p:nvPr/>
        </p:nvSpPr>
        <p:spPr>
          <a:xfrm>
            <a:off x="5379503" y="1759327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21" name="Diamond 20"/>
          <p:cNvSpPr/>
          <p:nvPr/>
        </p:nvSpPr>
        <p:spPr>
          <a:xfrm>
            <a:off x="10065671" y="3990811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22" name="Right Arrow 21"/>
          <p:cNvSpPr/>
          <p:nvPr/>
        </p:nvSpPr>
        <p:spPr>
          <a:xfrm>
            <a:off x="9214946" y="4506733"/>
            <a:ext cx="521200" cy="28837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Up Arrow 22"/>
          <p:cNvSpPr/>
          <p:nvPr/>
        </p:nvSpPr>
        <p:spPr>
          <a:xfrm>
            <a:off x="10547472" y="3033825"/>
            <a:ext cx="356616" cy="780543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62551" y="1035051"/>
            <a:ext cx="1823628" cy="1541574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652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 Training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Uses the working directory to load in all game files.</a:t>
            </a:r>
          </a:p>
          <a:p>
            <a:r>
              <a:rPr lang="en-US" dirty="0" smtClean="0"/>
              <a:t>Assigns each game to individual data frames.</a:t>
            </a: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3371" y="2636271"/>
            <a:ext cx="5823469" cy="2678076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900" y="5643034"/>
            <a:ext cx="8963552" cy="773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547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4601"/>
            <a:ext cx="2724912" cy="970450"/>
          </a:xfrm>
        </p:spPr>
        <p:txBody>
          <a:bodyPr/>
          <a:lstStyle/>
          <a:p>
            <a:r>
              <a:rPr lang="en-US" dirty="0" smtClean="0"/>
              <a:t>Algorith</a:t>
            </a:r>
            <a:r>
              <a:rPr lang="en-US" dirty="0"/>
              <a:t>m</a:t>
            </a:r>
          </a:p>
        </p:txBody>
      </p:sp>
      <p:sp>
        <p:nvSpPr>
          <p:cNvPr id="4" name="Rectangle 3"/>
          <p:cNvSpPr/>
          <p:nvPr/>
        </p:nvSpPr>
        <p:spPr>
          <a:xfrm>
            <a:off x="356313" y="1177714"/>
            <a:ext cx="1563927" cy="12180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Import Training Data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94473" y="4127426"/>
            <a:ext cx="1356182" cy="104698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Build Model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677822" y="1850585"/>
            <a:ext cx="1370652" cy="11377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Import Test Data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784835" y="4165322"/>
            <a:ext cx="1157998" cy="10090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Predict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135308" y="1912319"/>
            <a:ext cx="1180943" cy="10142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Accuracy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17999" y="3589626"/>
            <a:ext cx="1823628" cy="1732182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Set Parameters</a:t>
            </a:r>
            <a:endParaRPr lang="en-US" dirty="0"/>
          </a:p>
        </p:txBody>
      </p:sp>
      <p:sp>
        <p:nvSpPr>
          <p:cNvPr id="12" name="Down Arrow 11"/>
          <p:cNvSpPr/>
          <p:nvPr/>
        </p:nvSpPr>
        <p:spPr>
          <a:xfrm>
            <a:off x="1001116" y="2576625"/>
            <a:ext cx="274320" cy="9144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2139998" y="4538013"/>
            <a:ext cx="740362" cy="29751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4521894" y="4576923"/>
            <a:ext cx="649978" cy="29751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>
            <a:off x="8211312" y="3132426"/>
            <a:ext cx="274320" cy="9144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6986024" y="2298084"/>
            <a:ext cx="521200" cy="28837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iamond 17"/>
          <p:cNvSpPr/>
          <p:nvPr/>
        </p:nvSpPr>
        <p:spPr>
          <a:xfrm>
            <a:off x="3008755" y="4026663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19" name="Up Arrow 18"/>
          <p:cNvSpPr/>
          <p:nvPr/>
        </p:nvSpPr>
        <p:spPr>
          <a:xfrm>
            <a:off x="5861304" y="3246120"/>
            <a:ext cx="356616" cy="780543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iamond 19"/>
          <p:cNvSpPr/>
          <p:nvPr/>
        </p:nvSpPr>
        <p:spPr>
          <a:xfrm>
            <a:off x="5379503" y="1759327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21" name="Diamond 20"/>
          <p:cNvSpPr/>
          <p:nvPr/>
        </p:nvSpPr>
        <p:spPr>
          <a:xfrm>
            <a:off x="10065671" y="3990811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22" name="Right Arrow 21"/>
          <p:cNvSpPr/>
          <p:nvPr/>
        </p:nvSpPr>
        <p:spPr>
          <a:xfrm>
            <a:off x="9214946" y="4506733"/>
            <a:ext cx="521200" cy="28837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Up Arrow 22"/>
          <p:cNvSpPr/>
          <p:nvPr/>
        </p:nvSpPr>
        <p:spPr>
          <a:xfrm>
            <a:off x="10547472" y="3033825"/>
            <a:ext cx="356616" cy="780543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72279" y="3500169"/>
            <a:ext cx="1921999" cy="1921999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64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Two global parameters are needed to build the model:</a:t>
            </a:r>
          </a:p>
          <a:p>
            <a:pPr lvl="1"/>
            <a:r>
              <a:rPr lang="en-US" dirty="0" smtClean="0"/>
              <a:t>The current pitch of the game.</a:t>
            </a:r>
          </a:p>
          <a:p>
            <a:pPr lvl="1"/>
            <a:r>
              <a:rPr lang="en-US" dirty="0" smtClean="0"/>
              <a:t>How many previous pitches to keep track of.</a:t>
            </a:r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These are used to calculate the lag variables for each pitch type.</a:t>
            </a:r>
          </a:p>
        </p:txBody>
      </p:sp>
    </p:spTree>
    <p:extLst>
      <p:ext uri="{BB962C8B-B14F-4D97-AF65-F5344CB8AC3E}">
        <p14:creationId xmlns:p14="http://schemas.microsoft.com/office/powerpoint/2010/main" val="1277616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4601"/>
            <a:ext cx="2724912" cy="970450"/>
          </a:xfrm>
        </p:spPr>
        <p:txBody>
          <a:bodyPr/>
          <a:lstStyle/>
          <a:p>
            <a:r>
              <a:rPr lang="en-US" dirty="0" smtClean="0"/>
              <a:t>Algorith</a:t>
            </a:r>
            <a:r>
              <a:rPr lang="en-US" dirty="0"/>
              <a:t>m</a:t>
            </a:r>
          </a:p>
        </p:txBody>
      </p:sp>
      <p:sp>
        <p:nvSpPr>
          <p:cNvPr id="4" name="Rectangle 3"/>
          <p:cNvSpPr/>
          <p:nvPr/>
        </p:nvSpPr>
        <p:spPr>
          <a:xfrm>
            <a:off x="356313" y="1177714"/>
            <a:ext cx="1563927" cy="12180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Import Training Data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94473" y="4127426"/>
            <a:ext cx="1356182" cy="104698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Build Model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677822" y="1850585"/>
            <a:ext cx="1370652" cy="11377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Import Test Data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784835" y="4165322"/>
            <a:ext cx="1157998" cy="10090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Predict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135308" y="1912319"/>
            <a:ext cx="1180943" cy="10142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Accuracy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17999" y="3589626"/>
            <a:ext cx="1823628" cy="1732182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Set Parameters</a:t>
            </a:r>
            <a:endParaRPr lang="en-US" dirty="0"/>
          </a:p>
        </p:txBody>
      </p:sp>
      <p:sp>
        <p:nvSpPr>
          <p:cNvPr id="12" name="Down Arrow 11"/>
          <p:cNvSpPr/>
          <p:nvPr/>
        </p:nvSpPr>
        <p:spPr>
          <a:xfrm>
            <a:off x="1001116" y="2576625"/>
            <a:ext cx="274320" cy="9144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2139998" y="4538013"/>
            <a:ext cx="740362" cy="29751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4521894" y="4576923"/>
            <a:ext cx="649978" cy="29751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>
            <a:off x="8211312" y="3132426"/>
            <a:ext cx="274320" cy="9144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6986024" y="2298084"/>
            <a:ext cx="521200" cy="28837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iamond 17"/>
          <p:cNvSpPr/>
          <p:nvPr/>
        </p:nvSpPr>
        <p:spPr>
          <a:xfrm>
            <a:off x="3008755" y="4026663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19" name="Up Arrow 18"/>
          <p:cNvSpPr/>
          <p:nvPr/>
        </p:nvSpPr>
        <p:spPr>
          <a:xfrm>
            <a:off x="5861304" y="3246120"/>
            <a:ext cx="356616" cy="780543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iamond 19"/>
          <p:cNvSpPr/>
          <p:nvPr/>
        </p:nvSpPr>
        <p:spPr>
          <a:xfrm>
            <a:off x="5379503" y="1759327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21" name="Diamond 20"/>
          <p:cNvSpPr/>
          <p:nvPr/>
        </p:nvSpPr>
        <p:spPr>
          <a:xfrm>
            <a:off x="10065671" y="3990811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22" name="Right Arrow 21"/>
          <p:cNvSpPr/>
          <p:nvPr/>
        </p:nvSpPr>
        <p:spPr>
          <a:xfrm>
            <a:off x="9214946" y="4506733"/>
            <a:ext cx="521200" cy="28837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Up Arrow 22"/>
          <p:cNvSpPr/>
          <p:nvPr/>
        </p:nvSpPr>
        <p:spPr>
          <a:xfrm>
            <a:off x="10547472" y="3033825"/>
            <a:ext cx="356616" cy="780543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iamond 2"/>
          <p:cNvSpPr/>
          <p:nvPr/>
        </p:nvSpPr>
        <p:spPr>
          <a:xfrm>
            <a:off x="2907792" y="3931920"/>
            <a:ext cx="1517904" cy="1517904"/>
          </a:xfrm>
          <a:prstGeom prst="diamon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78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 If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if statement will only build a model if:</a:t>
            </a:r>
          </a:p>
          <a:p>
            <a:pPr lvl="1"/>
            <a:r>
              <a:rPr lang="en-US" dirty="0" smtClean="0"/>
              <a:t>The parameters have been set.</a:t>
            </a:r>
          </a:p>
          <a:p>
            <a:pPr lvl="1"/>
            <a:r>
              <a:rPr lang="en-US" dirty="0" smtClean="0"/>
              <a:t>The current pitch number is greater than the amount of pitches to look back on.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This way you can’t skip ahead.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429772" y="2935224"/>
                <a:ext cx="53218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𝑐𝑢𝑟𝑟𝑒𝑛𝑡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𝑃𝑖𝑡𝑐h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𝐿𝑜𝑜𝑘𝑏𝑎𝑐𝑘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772" y="2935224"/>
                <a:ext cx="5321808" cy="36933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4987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4601"/>
            <a:ext cx="2724912" cy="970450"/>
          </a:xfrm>
        </p:spPr>
        <p:txBody>
          <a:bodyPr/>
          <a:lstStyle/>
          <a:p>
            <a:r>
              <a:rPr lang="en-US" dirty="0" smtClean="0"/>
              <a:t>Algorith</a:t>
            </a:r>
            <a:r>
              <a:rPr lang="en-US" dirty="0"/>
              <a:t>m</a:t>
            </a:r>
          </a:p>
        </p:txBody>
      </p:sp>
      <p:sp>
        <p:nvSpPr>
          <p:cNvPr id="4" name="Rectangle 3"/>
          <p:cNvSpPr/>
          <p:nvPr/>
        </p:nvSpPr>
        <p:spPr>
          <a:xfrm>
            <a:off x="356313" y="1177714"/>
            <a:ext cx="1563927" cy="12180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Import Training Data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94473" y="4127426"/>
            <a:ext cx="1356182" cy="104698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Build Model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677822" y="1850585"/>
            <a:ext cx="1370652" cy="11377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Import Test Data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784835" y="4165322"/>
            <a:ext cx="1157998" cy="10090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Predict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135308" y="1912319"/>
            <a:ext cx="1180943" cy="10142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Accuracy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17999" y="3589626"/>
            <a:ext cx="1823628" cy="1732182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Set Parameters</a:t>
            </a:r>
            <a:endParaRPr lang="en-US" dirty="0"/>
          </a:p>
        </p:txBody>
      </p:sp>
      <p:sp>
        <p:nvSpPr>
          <p:cNvPr id="12" name="Down Arrow 11"/>
          <p:cNvSpPr/>
          <p:nvPr/>
        </p:nvSpPr>
        <p:spPr>
          <a:xfrm>
            <a:off x="1001116" y="2576625"/>
            <a:ext cx="274320" cy="9144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2139998" y="4538013"/>
            <a:ext cx="740362" cy="29751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4521894" y="4576923"/>
            <a:ext cx="649978" cy="29751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>
            <a:off x="8211312" y="3132426"/>
            <a:ext cx="274320" cy="9144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6986024" y="2298084"/>
            <a:ext cx="521200" cy="28837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iamond 17"/>
          <p:cNvSpPr/>
          <p:nvPr/>
        </p:nvSpPr>
        <p:spPr>
          <a:xfrm>
            <a:off x="3008755" y="4026663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19" name="Up Arrow 18"/>
          <p:cNvSpPr/>
          <p:nvPr/>
        </p:nvSpPr>
        <p:spPr>
          <a:xfrm>
            <a:off x="5861304" y="3246120"/>
            <a:ext cx="356616" cy="780543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iamond 19"/>
          <p:cNvSpPr/>
          <p:nvPr/>
        </p:nvSpPr>
        <p:spPr>
          <a:xfrm>
            <a:off x="5379503" y="1759327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21" name="Diamond 20"/>
          <p:cNvSpPr/>
          <p:nvPr/>
        </p:nvSpPr>
        <p:spPr>
          <a:xfrm>
            <a:off x="10065671" y="3990811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22" name="Right Arrow 21"/>
          <p:cNvSpPr/>
          <p:nvPr/>
        </p:nvSpPr>
        <p:spPr>
          <a:xfrm>
            <a:off x="9214946" y="4506733"/>
            <a:ext cx="521200" cy="28837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Up Arrow 22"/>
          <p:cNvSpPr/>
          <p:nvPr/>
        </p:nvSpPr>
        <p:spPr>
          <a:xfrm>
            <a:off x="10547472" y="3033825"/>
            <a:ext cx="356616" cy="780543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239512" y="4046826"/>
            <a:ext cx="1636776" cy="126420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384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Building the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823799"/>
          </a:xfrm>
        </p:spPr>
        <p:txBody>
          <a:bodyPr/>
          <a:lstStyle/>
          <a:p>
            <a:r>
              <a:rPr lang="en-US" dirty="0" smtClean="0"/>
              <a:t>Makes copies of each game containing only the variables of interest.</a:t>
            </a:r>
          </a:p>
          <a:p>
            <a:r>
              <a:rPr lang="en-US" dirty="0" smtClean="0"/>
              <a:t>Calculates the lag variables for each pitch type in each game.</a:t>
            </a:r>
          </a:p>
          <a:p>
            <a:pPr lvl="1"/>
            <a:r>
              <a:rPr lang="en-US" dirty="0" smtClean="0"/>
              <a:t>Starts at the current pitch selected.</a:t>
            </a:r>
          </a:p>
          <a:p>
            <a:pPr lvl="1"/>
            <a:r>
              <a:rPr lang="en-US" dirty="0" smtClean="0"/>
              <a:t>Counts how many times a certain pitch happened in the last number of selected pitches.</a:t>
            </a:r>
          </a:p>
          <a:p>
            <a:r>
              <a:rPr lang="en-US" dirty="0" smtClean="0"/>
              <a:t>Combines all games by row into a single data frame.</a:t>
            </a:r>
          </a:p>
          <a:p>
            <a:r>
              <a:rPr lang="en-US" dirty="0" smtClean="0"/>
              <a:t>Removes any undefined values for pitch type, batter arm, and pitcher arm.</a:t>
            </a:r>
          </a:p>
          <a:p>
            <a:r>
              <a:rPr lang="en-US" dirty="0" smtClean="0"/>
              <a:t>Uses the </a:t>
            </a:r>
            <a:r>
              <a:rPr lang="en-US" i="1" dirty="0" err="1" smtClean="0"/>
              <a:t>multinom</a:t>
            </a:r>
            <a:r>
              <a:rPr lang="en-US" dirty="0" smtClean="0"/>
              <a:t> function from the </a:t>
            </a:r>
            <a:r>
              <a:rPr lang="en-US" i="1" dirty="0" err="1" smtClean="0"/>
              <a:t>nnet</a:t>
            </a:r>
            <a:r>
              <a:rPr lang="en-US" dirty="0" smtClean="0"/>
              <a:t> package to </a:t>
            </a:r>
            <a:r>
              <a:rPr lang="en-US" dirty="0" smtClean="0">
                <a:effectLst/>
              </a:rPr>
              <a:t>fit a </a:t>
            </a:r>
            <a:r>
              <a:rPr lang="en-US" dirty="0">
                <a:effectLst/>
              </a:rPr>
              <a:t>multinomial log-linear </a:t>
            </a:r>
            <a:r>
              <a:rPr lang="en-US" dirty="0" smtClean="0">
                <a:effectLst/>
              </a:rPr>
              <a:t>model </a:t>
            </a:r>
            <a:r>
              <a:rPr lang="en-US" dirty="0">
                <a:effectLst/>
              </a:rPr>
              <a:t>via neural </a:t>
            </a:r>
            <a:r>
              <a:rPr lang="en-US" dirty="0" smtClean="0">
                <a:effectLst/>
              </a:rPr>
              <a:t>networks.</a:t>
            </a:r>
            <a:endParaRPr lang="en-US" dirty="0" smtClean="0"/>
          </a:p>
          <a:p>
            <a:pPr lvl="1"/>
            <a:r>
              <a:rPr lang="en-US" dirty="0" smtClean="0">
                <a:effectLst/>
              </a:rPr>
              <a:t>This function iterates through many models and chooses the best one.</a:t>
            </a:r>
          </a:p>
        </p:txBody>
      </p:sp>
    </p:spTree>
    <p:extLst>
      <p:ext uri="{BB962C8B-B14F-4D97-AF65-F5344CB8AC3E}">
        <p14:creationId xmlns:p14="http://schemas.microsoft.com/office/powerpoint/2010/main" val="2308943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4601"/>
            <a:ext cx="2724912" cy="970450"/>
          </a:xfrm>
        </p:spPr>
        <p:txBody>
          <a:bodyPr/>
          <a:lstStyle/>
          <a:p>
            <a:r>
              <a:rPr lang="en-US" dirty="0" smtClean="0"/>
              <a:t>Algorith</a:t>
            </a:r>
            <a:r>
              <a:rPr lang="en-US" dirty="0"/>
              <a:t>m</a:t>
            </a:r>
          </a:p>
        </p:txBody>
      </p:sp>
      <p:sp>
        <p:nvSpPr>
          <p:cNvPr id="4" name="Rectangle 3"/>
          <p:cNvSpPr/>
          <p:nvPr/>
        </p:nvSpPr>
        <p:spPr>
          <a:xfrm>
            <a:off x="356313" y="1177714"/>
            <a:ext cx="1563927" cy="12180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Import Training Data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94473" y="4127426"/>
            <a:ext cx="1356182" cy="104698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Build Model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677822" y="1850585"/>
            <a:ext cx="1370652" cy="11377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Import Test Data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784835" y="4165322"/>
            <a:ext cx="1157998" cy="10090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Predict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135308" y="1912319"/>
            <a:ext cx="1180943" cy="10142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Accuracy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17999" y="3589626"/>
            <a:ext cx="1823628" cy="1732182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Set Parameters</a:t>
            </a:r>
            <a:endParaRPr lang="en-US" dirty="0"/>
          </a:p>
        </p:txBody>
      </p:sp>
      <p:sp>
        <p:nvSpPr>
          <p:cNvPr id="12" name="Down Arrow 11"/>
          <p:cNvSpPr/>
          <p:nvPr/>
        </p:nvSpPr>
        <p:spPr>
          <a:xfrm>
            <a:off x="1001116" y="2576625"/>
            <a:ext cx="274320" cy="9144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2139998" y="4538013"/>
            <a:ext cx="740362" cy="29751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4521894" y="4576923"/>
            <a:ext cx="649978" cy="29751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>
            <a:off x="8211312" y="3132426"/>
            <a:ext cx="274320" cy="9144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6986024" y="2298084"/>
            <a:ext cx="521200" cy="28837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iamond 17"/>
          <p:cNvSpPr/>
          <p:nvPr/>
        </p:nvSpPr>
        <p:spPr>
          <a:xfrm>
            <a:off x="3008755" y="4026663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19" name="Up Arrow 18"/>
          <p:cNvSpPr/>
          <p:nvPr/>
        </p:nvSpPr>
        <p:spPr>
          <a:xfrm>
            <a:off x="5861304" y="3246120"/>
            <a:ext cx="356616" cy="780543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iamond 19"/>
          <p:cNvSpPr/>
          <p:nvPr/>
        </p:nvSpPr>
        <p:spPr>
          <a:xfrm>
            <a:off x="5379503" y="1759327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21" name="Diamond 20"/>
          <p:cNvSpPr/>
          <p:nvPr/>
        </p:nvSpPr>
        <p:spPr>
          <a:xfrm>
            <a:off x="10065671" y="3990811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22" name="Right Arrow 21"/>
          <p:cNvSpPr/>
          <p:nvPr/>
        </p:nvSpPr>
        <p:spPr>
          <a:xfrm>
            <a:off x="9214946" y="4506733"/>
            <a:ext cx="521200" cy="28837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Up Arrow 22"/>
          <p:cNvSpPr/>
          <p:nvPr/>
        </p:nvSpPr>
        <p:spPr>
          <a:xfrm>
            <a:off x="10547472" y="3033825"/>
            <a:ext cx="356616" cy="780543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iamond 2"/>
          <p:cNvSpPr/>
          <p:nvPr/>
        </p:nvSpPr>
        <p:spPr>
          <a:xfrm>
            <a:off x="5306351" y="1685993"/>
            <a:ext cx="1478497" cy="1478497"/>
          </a:xfrm>
          <a:prstGeom prst="diamon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49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 If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if statement will only import the test data sets if:</a:t>
            </a:r>
          </a:p>
          <a:p>
            <a:pPr lvl="1"/>
            <a:r>
              <a:rPr lang="en-US" dirty="0" smtClean="0"/>
              <a:t>A model has been built.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675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4601"/>
            <a:ext cx="2724912" cy="970450"/>
          </a:xfrm>
        </p:spPr>
        <p:txBody>
          <a:bodyPr/>
          <a:lstStyle/>
          <a:p>
            <a:r>
              <a:rPr lang="en-US" dirty="0" smtClean="0"/>
              <a:t>Algorith</a:t>
            </a:r>
            <a:r>
              <a:rPr lang="en-US" dirty="0"/>
              <a:t>m</a:t>
            </a:r>
          </a:p>
        </p:txBody>
      </p:sp>
      <p:sp>
        <p:nvSpPr>
          <p:cNvPr id="4" name="Rectangle 3"/>
          <p:cNvSpPr/>
          <p:nvPr/>
        </p:nvSpPr>
        <p:spPr>
          <a:xfrm>
            <a:off x="356313" y="1177714"/>
            <a:ext cx="1563927" cy="12180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Import Training Data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94473" y="4127426"/>
            <a:ext cx="1356182" cy="104698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Build Model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677822" y="1850585"/>
            <a:ext cx="1370652" cy="11377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Import Test Data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784835" y="4165322"/>
            <a:ext cx="1157998" cy="10090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Predict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135308" y="1912319"/>
            <a:ext cx="1180943" cy="10142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Accuracy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17999" y="3589626"/>
            <a:ext cx="1823628" cy="1732182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Set Parameters</a:t>
            </a:r>
            <a:endParaRPr lang="en-US" dirty="0"/>
          </a:p>
        </p:txBody>
      </p:sp>
      <p:sp>
        <p:nvSpPr>
          <p:cNvPr id="12" name="Down Arrow 11"/>
          <p:cNvSpPr/>
          <p:nvPr/>
        </p:nvSpPr>
        <p:spPr>
          <a:xfrm>
            <a:off x="1001116" y="2576625"/>
            <a:ext cx="274320" cy="9144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2139998" y="4538013"/>
            <a:ext cx="740362" cy="29751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4521894" y="4576923"/>
            <a:ext cx="649978" cy="29751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>
            <a:off x="8211312" y="3132426"/>
            <a:ext cx="274320" cy="9144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6986024" y="2298084"/>
            <a:ext cx="521200" cy="28837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iamond 17"/>
          <p:cNvSpPr/>
          <p:nvPr/>
        </p:nvSpPr>
        <p:spPr>
          <a:xfrm>
            <a:off x="3008755" y="4026663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19" name="Up Arrow 18"/>
          <p:cNvSpPr/>
          <p:nvPr/>
        </p:nvSpPr>
        <p:spPr>
          <a:xfrm>
            <a:off x="5861304" y="3246120"/>
            <a:ext cx="356616" cy="780543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iamond 19"/>
          <p:cNvSpPr/>
          <p:nvPr/>
        </p:nvSpPr>
        <p:spPr>
          <a:xfrm>
            <a:off x="5379503" y="1759327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21" name="Diamond 20"/>
          <p:cNvSpPr/>
          <p:nvPr/>
        </p:nvSpPr>
        <p:spPr>
          <a:xfrm>
            <a:off x="10065671" y="3990811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22" name="Right Arrow 21"/>
          <p:cNvSpPr/>
          <p:nvPr/>
        </p:nvSpPr>
        <p:spPr>
          <a:xfrm>
            <a:off x="9214946" y="4506733"/>
            <a:ext cx="521200" cy="28837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Up Arrow 22"/>
          <p:cNvSpPr/>
          <p:nvPr/>
        </p:nvSpPr>
        <p:spPr>
          <a:xfrm>
            <a:off x="10547472" y="3033825"/>
            <a:ext cx="356616" cy="780543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607808" y="1759327"/>
            <a:ext cx="1536192" cy="1320218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949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Importing Test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Takes in an input of a new working directory containing the test data.</a:t>
            </a:r>
          </a:p>
          <a:p>
            <a:r>
              <a:rPr lang="en-US" dirty="0" smtClean="0"/>
              <a:t>For this project, the test data consisted of 3 scrimmage games.</a:t>
            </a: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1633" y="2786472"/>
            <a:ext cx="4318085" cy="1752146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6406" y="5339641"/>
            <a:ext cx="5928537" cy="45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538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4601"/>
            <a:ext cx="2724912" cy="970450"/>
          </a:xfrm>
        </p:spPr>
        <p:txBody>
          <a:bodyPr/>
          <a:lstStyle/>
          <a:p>
            <a:r>
              <a:rPr lang="en-US" dirty="0" smtClean="0"/>
              <a:t>Algorith</a:t>
            </a:r>
            <a:r>
              <a:rPr lang="en-US" dirty="0"/>
              <a:t>m</a:t>
            </a:r>
          </a:p>
        </p:txBody>
      </p:sp>
      <p:sp>
        <p:nvSpPr>
          <p:cNvPr id="4" name="Rectangle 3"/>
          <p:cNvSpPr/>
          <p:nvPr/>
        </p:nvSpPr>
        <p:spPr>
          <a:xfrm>
            <a:off x="356313" y="1177714"/>
            <a:ext cx="1563927" cy="12180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Import Training Data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94473" y="4127426"/>
            <a:ext cx="1356182" cy="104698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Build Model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677822" y="1850585"/>
            <a:ext cx="1370652" cy="11377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Import Test Data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784835" y="4165322"/>
            <a:ext cx="1157998" cy="10090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Predict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135308" y="1912319"/>
            <a:ext cx="1180943" cy="10142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Accuracy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17999" y="3589626"/>
            <a:ext cx="1823628" cy="1732182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Set Parameters</a:t>
            </a:r>
            <a:endParaRPr lang="en-US" dirty="0"/>
          </a:p>
        </p:txBody>
      </p:sp>
      <p:sp>
        <p:nvSpPr>
          <p:cNvPr id="12" name="Down Arrow 11"/>
          <p:cNvSpPr/>
          <p:nvPr/>
        </p:nvSpPr>
        <p:spPr>
          <a:xfrm>
            <a:off x="1001116" y="2576625"/>
            <a:ext cx="274320" cy="9144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2139998" y="4538013"/>
            <a:ext cx="740362" cy="29751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4521894" y="4576923"/>
            <a:ext cx="649978" cy="29751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>
            <a:off x="8211312" y="3132426"/>
            <a:ext cx="274320" cy="9144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6986024" y="2298084"/>
            <a:ext cx="521200" cy="28837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iamond 17"/>
          <p:cNvSpPr/>
          <p:nvPr/>
        </p:nvSpPr>
        <p:spPr>
          <a:xfrm>
            <a:off x="3008755" y="4026663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19" name="Up Arrow 18"/>
          <p:cNvSpPr/>
          <p:nvPr/>
        </p:nvSpPr>
        <p:spPr>
          <a:xfrm>
            <a:off x="5861304" y="3246120"/>
            <a:ext cx="356616" cy="780543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iamond 19"/>
          <p:cNvSpPr/>
          <p:nvPr/>
        </p:nvSpPr>
        <p:spPr>
          <a:xfrm>
            <a:off x="5379503" y="1759327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21" name="Diamond 20"/>
          <p:cNvSpPr/>
          <p:nvPr/>
        </p:nvSpPr>
        <p:spPr>
          <a:xfrm>
            <a:off x="10065671" y="3990811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22" name="Right Arrow 21"/>
          <p:cNvSpPr/>
          <p:nvPr/>
        </p:nvSpPr>
        <p:spPr>
          <a:xfrm>
            <a:off x="9214946" y="4506733"/>
            <a:ext cx="521200" cy="28837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Up Arrow 22"/>
          <p:cNvSpPr/>
          <p:nvPr/>
        </p:nvSpPr>
        <p:spPr>
          <a:xfrm>
            <a:off x="10547472" y="3033825"/>
            <a:ext cx="356616" cy="780543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7677822" y="4127426"/>
            <a:ext cx="1370652" cy="118360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0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Predicting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Uses R’s built in </a:t>
            </a:r>
            <a:r>
              <a:rPr lang="en-US" i="1" dirty="0" smtClean="0"/>
              <a:t>predict</a:t>
            </a:r>
            <a:r>
              <a:rPr lang="en-US" dirty="0" smtClean="0"/>
              <a:t> function.</a:t>
            </a:r>
          </a:p>
          <a:p>
            <a:r>
              <a:rPr lang="en-US" dirty="0" smtClean="0"/>
              <a:t>Makes predictions based off the built model using a test data set.</a:t>
            </a:r>
          </a:p>
          <a:p>
            <a:pPr lvl="1"/>
            <a:r>
              <a:rPr lang="en-US" dirty="0" smtClean="0"/>
              <a:t>Calculates the lag variables for the test data in the same way as the training data sets.</a:t>
            </a:r>
          </a:p>
          <a:p>
            <a:pPr lvl="1"/>
            <a:endParaRPr lang="en-US" dirty="0"/>
          </a:p>
          <a:p>
            <a:r>
              <a:rPr lang="en-US" dirty="0" smtClean="0"/>
              <a:t>Example:</a:t>
            </a:r>
          </a:p>
          <a:p>
            <a:pPr lvl="1"/>
            <a:r>
              <a:rPr lang="en-US" dirty="0" smtClean="0"/>
              <a:t>Current pitch = 10</a:t>
            </a:r>
          </a:p>
          <a:p>
            <a:pPr lvl="1"/>
            <a:r>
              <a:rPr lang="en-US" dirty="0" smtClean="0"/>
              <a:t>Lookback = 5</a:t>
            </a:r>
          </a:p>
          <a:p>
            <a:pPr lvl="1"/>
            <a:r>
              <a:rPr lang="en-US" dirty="0" smtClean="0"/>
              <a:t>Data = Test1</a:t>
            </a:r>
          </a:p>
          <a:p>
            <a:pPr lvl="2"/>
            <a:r>
              <a:rPr lang="en-US" dirty="0" smtClean="0"/>
              <a:t>The 1</a:t>
            </a:r>
            <a:r>
              <a:rPr lang="en-US" baseline="30000" dirty="0" smtClean="0"/>
              <a:t>st</a:t>
            </a:r>
            <a:r>
              <a:rPr lang="en-US" dirty="0" smtClean="0"/>
              <a:t> Scrimmage</a:t>
            </a: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90"/>
          <a:stretch/>
        </p:blipFill>
        <p:spPr>
          <a:xfrm>
            <a:off x="3922492" y="3457776"/>
            <a:ext cx="7999306" cy="265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72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4601"/>
            <a:ext cx="2724912" cy="970450"/>
          </a:xfrm>
        </p:spPr>
        <p:txBody>
          <a:bodyPr/>
          <a:lstStyle/>
          <a:p>
            <a:r>
              <a:rPr lang="en-US" dirty="0" smtClean="0"/>
              <a:t>Algorith</a:t>
            </a:r>
            <a:r>
              <a:rPr lang="en-US" dirty="0"/>
              <a:t>m</a:t>
            </a:r>
          </a:p>
        </p:txBody>
      </p:sp>
      <p:sp>
        <p:nvSpPr>
          <p:cNvPr id="4" name="Rectangle 3"/>
          <p:cNvSpPr/>
          <p:nvPr/>
        </p:nvSpPr>
        <p:spPr>
          <a:xfrm>
            <a:off x="356313" y="1177714"/>
            <a:ext cx="1563927" cy="12180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Import Training Data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94473" y="4127426"/>
            <a:ext cx="1356182" cy="104698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Build Model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677822" y="1850585"/>
            <a:ext cx="1370652" cy="11377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Import Test Data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784835" y="4165322"/>
            <a:ext cx="1157998" cy="10090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Predict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135308" y="1912319"/>
            <a:ext cx="1180943" cy="10142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Accuracy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17999" y="3589626"/>
            <a:ext cx="1823628" cy="1732182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Set Parameters</a:t>
            </a:r>
            <a:endParaRPr lang="en-US" dirty="0"/>
          </a:p>
        </p:txBody>
      </p:sp>
      <p:sp>
        <p:nvSpPr>
          <p:cNvPr id="12" name="Down Arrow 11"/>
          <p:cNvSpPr/>
          <p:nvPr/>
        </p:nvSpPr>
        <p:spPr>
          <a:xfrm>
            <a:off x="1001116" y="2576625"/>
            <a:ext cx="274320" cy="9144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2139998" y="4538013"/>
            <a:ext cx="740362" cy="29751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4521894" y="4576923"/>
            <a:ext cx="649978" cy="29751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>
            <a:off x="8211312" y="3132426"/>
            <a:ext cx="274320" cy="9144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6986024" y="2298084"/>
            <a:ext cx="521200" cy="28837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iamond 17"/>
          <p:cNvSpPr/>
          <p:nvPr/>
        </p:nvSpPr>
        <p:spPr>
          <a:xfrm>
            <a:off x="3008755" y="4026663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19" name="Up Arrow 18"/>
          <p:cNvSpPr/>
          <p:nvPr/>
        </p:nvSpPr>
        <p:spPr>
          <a:xfrm>
            <a:off x="5861304" y="3246120"/>
            <a:ext cx="356616" cy="780543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iamond 19"/>
          <p:cNvSpPr/>
          <p:nvPr/>
        </p:nvSpPr>
        <p:spPr>
          <a:xfrm>
            <a:off x="5379503" y="1759327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21" name="Diamond 20"/>
          <p:cNvSpPr/>
          <p:nvPr/>
        </p:nvSpPr>
        <p:spPr>
          <a:xfrm>
            <a:off x="10065671" y="3990811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22" name="Right Arrow 21"/>
          <p:cNvSpPr/>
          <p:nvPr/>
        </p:nvSpPr>
        <p:spPr>
          <a:xfrm>
            <a:off x="9214946" y="4506733"/>
            <a:ext cx="521200" cy="28837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Up Arrow 22"/>
          <p:cNvSpPr/>
          <p:nvPr/>
        </p:nvSpPr>
        <p:spPr>
          <a:xfrm>
            <a:off x="10547472" y="3033825"/>
            <a:ext cx="356616" cy="780543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iamond 9"/>
          <p:cNvSpPr/>
          <p:nvPr/>
        </p:nvSpPr>
        <p:spPr>
          <a:xfrm>
            <a:off x="10001663" y="3945091"/>
            <a:ext cx="1437481" cy="1437481"/>
          </a:xfrm>
          <a:prstGeom prst="diamond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081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</a:t>
            </a:r>
            <a:r>
              <a:rPr lang="en-US" baseline="30000" dirty="0" smtClean="0"/>
              <a:t>rd</a:t>
            </a:r>
            <a:r>
              <a:rPr lang="en-US" dirty="0" smtClean="0"/>
              <a:t> If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statement will only calculate the accuracy if:</a:t>
            </a:r>
          </a:p>
          <a:p>
            <a:pPr lvl="1"/>
            <a:r>
              <a:rPr lang="en-US" dirty="0" smtClean="0"/>
              <a:t>A prediction has been made.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026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4601"/>
            <a:ext cx="2724912" cy="970450"/>
          </a:xfrm>
        </p:spPr>
        <p:txBody>
          <a:bodyPr/>
          <a:lstStyle/>
          <a:p>
            <a:r>
              <a:rPr lang="en-US" dirty="0" smtClean="0"/>
              <a:t>Algorith</a:t>
            </a:r>
            <a:r>
              <a:rPr lang="en-US" dirty="0"/>
              <a:t>m</a:t>
            </a:r>
          </a:p>
        </p:txBody>
      </p:sp>
      <p:sp>
        <p:nvSpPr>
          <p:cNvPr id="4" name="Rectangle 3"/>
          <p:cNvSpPr/>
          <p:nvPr/>
        </p:nvSpPr>
        <p:spPr>
          <a:xfrm>
            <a:off x="356313" y="1177714"/>
            <a:ext cx="1563927" cy="12180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Import Training Data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94473" y="4127426"/>
            <a:ext cx="1356182" cy="104698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Build Model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677822" y="1850585"/>
            <a:ext cx="1370652" cy="11377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Import Test Data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784835" y="4165322"/>
            <a:ext cx="1157998" cy="10090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Predict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135308" y="1912319"/>
            <a:ext cx="1180943" cy="10142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Accuracy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17999" y="3589626"/>
            <a:ext cx="1823628" cy="1732182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Set Parameters</a:t>
            </a:r>
            <a:endParaRPr lang="en-US" dirty="0"/>
          </a:p>
        </p:txBody>
      </p:sp>
      <p:sp>
        <p:nvSpPr>
          <p:cNvPr id="12" name="Down Arrow 11"/>
          <p:cNvSpPr/>
          <p:nvPr/>
        </p:nvSpPr>
        <p:spPr>
          <a:xfrm>
            <a:off x="1001116" y="2576625"/>
            <a:ext cx="274320" cy="9144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2139998" y="4538013"/>
            <a:ext cx="740362" cy="29751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4521894" y="4576923"/>
            <a:ext cx="649978" cy="29751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>
            <a:off x="8211312" y="3132426"/>
            <a:ext cx="274320" cy="9144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6986024" y="2298084"/>
            <a:ext cx="521200" cy="28837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iamond 17"/>
          <p:cNvSpPr/>
          <p:nvPr/>
        </p:nvSpPr>
        <p:spPr>
          <a:xfrm>
            <a:off x="3008755" y="4026663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19" name="Up Arrow 18"/>
          <p:cNvSpPr/>
          <p:nvPr/>
        </p:nvSpPr>
        <p:spPr>
          <a:xfrm>
            <a:off x="5861304" y="3246120"/>
            <a:ext cx="356616" cy="780543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iamond 19"/>
          <p:cNvSpPr/>
          <p:nvPr/>
        </p:nvSpPr>
        <p:spPr>
          <a:xfrm>
            <a:off x="5379503" y="1759327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21" name="Diamond 20"/>
          <p:cNvSpPr/>
          <p:nvPr/>
        </p:nvSpPr>
        <p:spPr>
          <a:xfrm>
            <a:off x="10065671" y="3990811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22" name="Right Arrow 21"/>
          <p:cNvSpPr/>
          <p:nvPr/>
        </p:nvSpPr>
        <p:spPr>
          <a:xfrm>
            <a:off x="9214946" y="4506733"/>
            <a:ext cx="521200" cy="28837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Up Arrow 22"/>
          <p:cNvSpPr/>
          <p:nvPr/>
        </p:nvSpPr>
        <p:spPr>
          <a:xfrm>
            <a:off x="10547472" y="3033825"/>
            <a:ext cx="356616" cy="780543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0065671" y="1850585"/>
            <a:ext cx="1320218" cy="113770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492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2404"/>
            <a:ext cx="10353762" cy="970450"/>
          </a:xfrm>
        </p:spPr>
        <p:txBody>
          <a:bodyPr/>
          <a:lstStyle/>
          <a:p>
            <a:r>
              <a:rPr lang="en-US" dirty="0" smtClean="0"/>
              <a:t>Accuracy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832104"/>
            <a:ext cx="10353762" cy="5769863"/>
          </a:xfrm>
        </p:spPr>
        <p:txBody>
          <a:bodyPr/>
          <a:lstStyle/>
          <a:p>
            <a:r>
              <a:rPr lang="en-US" dirty="0" smtClean="0"/>
              <a:t>Compares the prediction to the test data.</a:t>
            </a:r>
          </a:p>
          <a:p>
            <a:r>
              <a:rPr lang="en-US" dirty="0" smtClean="0"/>
              <a:t>If the prediction is correct, a value of 1 is assigned. 0 otherwise.</a:t>
            </a:r>
          </a:p>
          <a:p>
            <a:r>
              <a:rPr lang="en-US" dirty="0" smtClean="0"/>
              <a:t>The average of these gives a measurement of accuracy.</a:t>
            </a:r>
          </a:p>
          <a:p>
            <a:endParaRPr lang="en-US" dirty="0"/>
          </a:p>
          <a:p>
            <a:r>
              <a:rPr lang="en-US" dirty="0" smtClean="0"/>
              <a:t>Example:</a:t>
            </a:r>
          </a:p>
          <a:p>
            <a:pPr lvl="1"/>
            <a:r>
              <a:rPr lang="en-US" dirty="0" smtClean="0"/>
              <a:t>Same setup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r>
              <a:rPr lang="en-US" dirty="0" smtClean="0"/>
              <a:t>However, this measurement of accuracy isn’t the best. </a:t>
            </a:r>
            <a:endParaRPr lang="en-US" dirty="0"/>
          </a:p>
          <a:p>
            <a:r>
              <a:rPr lang="en-US" dirty="0" smtClean="0"/>
              <a:t>Changing the original parameters changes the model, therefore, changing the prediction.</a:t>
            </a: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90"/>
          <a:stretch/>
        </p:blipFill>
        <p:spPr>
          <a:xfrm>
            <a:off x="3794476" y="2227027"/>
            <a:ext cx="7999306" cy="2659560"/>
          </a:xfrm>
          <a:prstGeom prst="rect">
            <a:avLst/>
          </a:prstGeom>
        </p:spPr>
      </p:pic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465" y="4982020"/>
            <a:ext cx="8403327" cy="23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642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4601"/>
            <a:ext cx="2724912" cy="970450"/>
          </a:xfrm>
        </p:spPr>
        <p:txBody>
          <a:bodyPr/>
          <a:lstStyle/>
          <a:p>
            <a:r>
              <a:rPr lang="en-US" dirty="0" smtClean="0"/>
              <a:t>Algorith</a:t>
            </a:r>
            <a:r>
              <a:rPr lang="en-US" dirty="0"/>
              <a:t>m</a:t>
            </a:r>
          </a:p>
        </p:txBody>
      </p:sp>
      <p:sp>
        <p:nvSpPr>
          <p:cNvPr id="4" name="Rectangle 3"/>
          <p:cNvSpPr/>
          <p:nvPr/>
        </p:nvSpPr>
        <p:spPr>
          <a:xfrm>
            <a:off x="356313" y="1177714"/>
            <a:ext cx="1563927" cy="121801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Import Training Data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394473" y="4127426"/>
            <a:ext cx="1356182" cy="104698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Build Model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677822" y="1850585"/>
            <a:ext cx="1370652" cy="113770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Import Test Data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784835" y="4165322"/>
            <a:ext cx="1157998" cy="100909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Predict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135308" y="1912319"/>
            <a:ext cx="1180943" cy="10142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Accuracy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217999" y="3589626"/>
            <a:ext cx="1823628" cy="1732182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Set Parameters</a:t>
            </a:r>
            <a:endParaRPr lang="en-US" dirty="0"/>
          </a:p>
        </p:txBody>
      </p:sp>
      <p:sp>
        <p:nvSpPr>
          <p:cNvPr id="12" name="Down Arrow 11"/>
          <p:cNvSpPr/>
          <p:nvPr/>
        </p:nvSpPr>
        <p:spPr>
          <a:xfrm>
            <a:off x="1001116" y="2576625"/>
            <a:ext cx="274320" cy="9144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2139998" y="4538013"/>
            <a:ext cx="740362" cy="29751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4521894" y="4576923"/>
            <a:ext cx="649978" cy="29751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>
            <a:off x="8211312" y="3132426"/>
            <a:ext cx="274320" cy="9144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6986024" y="2298084"/>
            <a:ext cx="521200" cy="28837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iamond 17"/>
          <p:cNvSpPr/>
          <p:nvPr/>
        </p:nvSpPr>
        <p:spPr>
          <a:xfrm>
            <a:off x="3008755" y="4026663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19" name="Up Arrow 18"/>
          <p:cNvSpPr/>
          <p:nvPr/>
        </p:nvSpPr>
        <p:spPr>
          <a:xfrm>
            <a:off x="5861304" y="3246120"/>
            <a:ext cx="356616" cy="780543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iamond 19"/>
          <p:cNvSpPr/>
          <p:nvPr/>
        </p:nvSpPr>
        <p:spPr>
          <a:xfrm>
            <a:off x="5379503" y="1759327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21" name="Diamond 20"/>
          <p:cNvSpPr/>
          <p:nvPr/>
        </p:nvSpPr>
        <p:spPr>
          <a:xfrm>
            <a:off x="10065671" y="3990811"/>
            <a:ext cx="1320218" cy="1320218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If</a:t>
            </a:r>
            <a:endParaRPr lang="en-US" dirty="0"/>
          </a:p>
        </p:txBody>
      </p:sp>
      <p:sp>
        <p:nvSpPr>
          <p:cNvPr id="22" name="Right Arrow 21"/>
          <p:cNvSpPr/>
          <p:nvPr/>
        </p:nvSpPr>
        <p:spPr>
          <a:xfrm>
            <a:off x="9214946" y="4506733"/>
            <a:ext cx="521200" cy="28837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Up Arrow 22"/>
          <p:cNvSpPr/>
          <p:nvPr/>
        </p:nvSpPr>
        <p:spPr>
          <a:xfrm>
            <a:off x="10547472" y="3033825"/>
            <a:ext cx="356616" cy="780543"/>
          </a:xfrm>
          <a:prstGeom prst="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9048474" y="3033825"/>
            <a:ext cx="1086834" cy="1093601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9160082" y="2468880"/>
            <a:ext cx="850725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10771632" y="1335024"/>
            <a:ext cx="0" cy="42430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>
            <a:off x="2149142" y="1344168"/>
            <a:ext cx="8631634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1920240" y="1344168"/>
            <a:ext cx="1856232" cy="233172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56313" y="5483181"/>
            <a:ext cx="88239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From there you can: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Import new data.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Make another prediction based different test data.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Set new parameters.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031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Follow-up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 smtClean="0"/>
              <a:t>Allowing the user to chose how many pitches ahead to predict.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Testing other classification models.</a:t>
            </a:r>
          </a:p>
          <a:p>
            <a:pPr lvl="1">
              <a:lnSpc>
                <a:spcPct val="200000"/>
              </a:lnSpc>
            </a:pPr>
            <a:r>
              <a:rPr lang="en-US" dirty="0" smtClean="0"/>
              <a:t>LDA, QDA, Random Forests, etc.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Eventual integration with the Shiny application.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567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04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136</TotalTime>
  <Words>829</Words>
  <Application>Microsoft Office PowerPoint</Application>
  <PresentationFormat>Widescreen</PresentationFormat>
  <Paragraphs>212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Calisto MT</vt:lpstr>
      <vt:lpstr>Cambria Math</vt:lpstr>
      <vt:lpstr>Trebuchet MS</vt:lpstr>
      <vt:lpstr>Wingdings 2</vt:lpstr>
      <vt:lpstr>Slate</vt:lpstr>
      <vt:lpstr>Baseball Project Pitcher Model</vt:lpstr>
      <vt:lpstr>Goal</vt:lpstr>
      <vt:lpstr>Variables</vt:lpstr>
      <vt:lpstr>Data Preparation</vt:lpstr>
      <vt:lpstr>Data Preparation</vt:lpstr>
      <vt:lpstr>Algorithm</vt:lpstr>
      <vt:lpstr>Import Training Data</vt:lpstr>
      <vt:lpstr>Algorithm</vt:lpstr>
      <vt:lpstr>Parameters</vt:lpstr>
      <vt:lpstr>Algorithm</vt:lpstr>
      <vt:lpstr>1st If Statement</vt:lpstr>
      <vt:lpstr>Algorithm</vt:lpstr>
      <vt:lpstr>Building the Model</vt:lpstr>
      <vt:lpstr>Algorithm</vt:lpstr>
      <vt:lpstr>2nd If Statement</vt:lpstr>
      <vt:lpstr>Algorithm</vt:lpstr>
      <vt:lpstr>Importing Test Data</vt:lpstr>
      <vt:lpstr>Algorithm</vt:lpstr>
      <vt:lpstr>Predicting</vt:lpstr>
      <vt:lpstr>Algorithm</vt:lpstr>
      <vt:lpstr>3rd If Statement</vt:lpstr>
      <vt:lpstr>Algorithm</vt:lpstr>
      <vt:lpstr>Accuracy</vt:lpstr>
      <vt:lpstr>Algorithm</vt:lpstr>
      <vt:lpstr>Follow-up Work</vt:lpstr>
      <vt:lpstr>Questions?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Baseball Project Pitcher Model</dc:title>
  <dc:creator>Ian</dc:creator>
  <cp:lastModifiedBy>Ian</cp:lastModifiedBy>
  <cp:revision>21</cp:revision>
  <dcterms:created xsi:type="dcterms:W3CDTF">2018-12-02T18:57:24Z</dcterms:created>
  <dcterms:modified xsi:type="dcterms:W3CDTF">2018-12-02T21:13:30Z</dcterms:modified>
</cp:coreProperties>
</file>